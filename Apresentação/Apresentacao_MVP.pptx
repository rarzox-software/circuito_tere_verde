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66" r:id="rId4"/>
    <p:sldId id="271" r:id="rId5"/>
    <p:sldId id="272" r:id="rId6"/>
    <p:sldId id="267" r:id="rId7"/>
    <p:sldId id="268" r:id="rId8"/>
    <p:sldId id="27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6640B-6019-F9E3-8179-3F7E190603BB}" v="80" dt="2025-12-06T01:09:07.199"/>
    <p1510:client id="{27E152D3-F082-53BA-315B-7515B6E75BD3}" v="12" dt="2025-12-06T13:51:07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3EF469D1-8106-5867-9780-3187C61D9C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545" b="-2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724" y="4651696"/>
            <a:ext cx="2518056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  <a:defRPr sz="2000">
                <a:solidFill>
                  <a:srgbClr val="344E41"/>
                </a:solidFill>
              </a:defRPr>
            </a:pPr>
            <a:r>
              <a:rPr lang="en-US" sz="1700" dirty="0">
                <a:solidFill>
                  <a:schemeClr val="bg1"/>
                </a:solidFill>
              </a:rPr>
              <a:t>Plataforma </a:t>
            </a:r>
            <a:r>
              <a:rPr lang="en-US" sz="1700" dirty="0" err="1">
                <a:solidFill>
                  <a:schemeClr val="bg1"/>
                </a:solidFill>
              </a:rPr>
              <a:t>Integrada</a:t>
            </a:r>
            <a:r>
              <a:rPr lang="en-US" sz="1700" dirty="0">
                <a:solidFill>
                  <a:schemeClr val="bg1"/>
                </a:solidFill>
              </a:rPr>
              <a:t> de </a:t>
            </a:r>
            <a:r>
              <a:rPr lang="en-US" sz="1700" dirty="0" err="1">
                <a:solidFill>
                  <a:schemeClr val="bg1"/>
                </a:solidFill>
              </a:rPr>
              <a:t>Ecoturismo</a:t>
            </a:r>
            <a:r>
              <a:rPr lang="en-US" sz="1700" dirty="0">
                <a:solidFill>
                  <a:schemeClr val="bg1"/>
                </a:solidFill>
              </a:rPr>
              <a:t> e </a:t>
            </a:r>
            <a:r>
              <a:rPr lang="en-US" sz="1700" dirty="0" err="1">
                <a:solidFill>
                  <a:schemeClr val="bg1"/>
                </a:solidFill>
              </a:rPr>
              <a:t>Educação</a:t>
            </a:r>
            <a:r>
              <a:rPr lang="en-US" sz="1700" dirty="0">
                <a:solidFill>
                  <a:schemeClr val="bg1"/>
                </a:solidFill>
              </a:rPr>
              <a:t> Ambiental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" y="3429432"/>
            <a:ext cx="4576636" cy="9392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  <a:defRPr sz="3600" b="1">
                <a:solidFill>
                  <a:srgbClr val="344E41"/>
                </a:solidFill>
              </a:defRPr>
            </a:pPr>
            <a:r>
              <a:rPr lang="en-US" sz="4200" dirty="0">
                <a:solidFill>
                  <a:schemeClr val="bg1"/>
                </a:solidFill>
              </a:rPr>
              <a:t>Circuito </a:t>
            </a:r>
            <a:r>
              <a:rPr lang="en-US" sz="4200" err="1">
                <a:solidFill>
                  <a:schemeClr val="bg1"/>
                </a:solidFill>
              </a:rPr>
              <a:t>Terê</a:t>
            </a:r>
            <a:r>
              <a:rPr lang="en-US" sz="4200" dirty="0">
                <a:solidFill>
                  <a:schemeClr val="bg1"/>
                </a:solidFill>
              </a:rPr>
              <a:t> Verde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A9FFFB8-F9D5-9A53-B697-EA118BFE2551}"/>
              </a:ext>
            </a:extLst>
          </p:cNvPr>
          <p:cNvSpPr/>
          <p:nvPr/>
        </p:nvSpPr>
        <p:spPr>
          <a:xfrm>
            <a:off x="122201" y="116934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11F9210-DCC3-FA01-CA1F-04D9DA8C8EC6}"/>
              </a:ext>
            </a:extLst>
          </p:cNvPr>
          <p:cNvSpPr/>
          <p:nvPr/>
        </p:nvSpPr>
        <p:spPr>
          <a:xfrm>
            <a:off x="122200" y="264417"/>
            <a:ext cx="556224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B4BC7E6-CFF5-8C3A-5B1C-1D71E7EFD5C1}"/>
              </a:ext>
            </a:extLst>
          </p:cNvPr>
          <p:cNvSpPr/>
          <p:nvPr/>
        </p:nvSpPr>
        <p:spPr>
          <a:xfrm>
            <a:off x="122200" y="411901"/>
            <a:ext cx="1346317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D513542-0283-FE6D-14E5-84678F65E760}"/>
              </a:ext>
            </a:extLst>
          </p:cNvPr>
          <p:cNvSpPr/>
          <p:nvPr/>
        </p:nvSpPr>
        <p:spPr>
          <a:xfrm>
            <a:off x="122201" y="590989"/>
            <a:ext cx="1736095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145A7A6-31BF-0FF6-EBDC-2C5B46BEE884}"/>
              </a:ext>
            </a:extLst>
          </p:cNvPr>
          <p:cNvSpPr/>
          <p:nvPr/>
        </p:nvSpPr>
        <p:spPr>
          <a:xfrm>
            <a:off x="122201" y="6543017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127B440-C998-94C8-D952-DE6FC09498B3}"/>
              </a:ext>
            </a:extLst>
          </p:cNvPr>
          <p:cNvSpPr/>
          <p:nvPr/>
        </p:nvSpPr>
        <p:spPr>
          <a:xfrm>
            <a:off x="122199" y="6363928"/>
            <a:ext cx="556224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0341B66-5335-5467-DEB6-2AB46ACCF887}"/>
              </a:ext>
            </a:extLst>
          </p:cNvPr>
          <p:cNvSpPr/>
          <p:nvPr/>
        </p:nvSpPr>
        <p:spPr>
          <a:xfrm>
            <a:off x="122199" y="6195375"/>
            <a:ext cx="1346317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136E2F7-1328-F5D2-5363-99B7914EA1A9}"/>
              </a:ext>
            </a:extLst>
          </p:cNvPr>
          <p:cNvSpPr/>
          <p:nvPr/>
        </p:nvSpPr>
        <p:spPr>
          <a:xfrm>
            <a:off x="122200" y="6016288"/>
            <a:ext cx="1736095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F6B770-FCBE-389D-6AB3-09C11AF57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90F58F-7E89-7158-EB49-5D4D85969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65DECB-2CFA-B8CE-9281-6FA41BB72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3966A-854A-1750-9487-E1F5226CE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94" y="586149"/>
            <a:ext cx="2094934" cy="61022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344E41"/>
                </a:solidFill>
              </a:defRPr>
            </a:pPr>
            <a:r>
              <a:rPr lang="en-US" sz="3600" dirty="0">
                <a:solidFill>
                  <a:srgbClr val="DAD7CD"/>
                </a:solidFill>
                <a:ea typeface="+mj-lt"/>
                <a:cs typeface="+mj-lt"/>
              </a:rPr>
              <a:t>Grupo 2 </a:t>
            </a:r>
            <a:endParaRPr lang="en-US" dirty="0">
              <a:solidFill>
                <a:srgbClr val="DAD7CD"/>
              </a:solidFill>
              <a:ea typeface="Calibri"/>
              <a:cs typeface="Calibri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B5D945C-07D1-D0FB-4D23-223D9DA2E82F}"/>
              </a:ext>
            </a:extLst>
          </p:cNvPr>
          <p:cNvSpPr/>
          <p:nvPr/>
        </p:nvSpPr>
        <p:spPr>
          <a:xfrm>
            <a:off x="122201" y="116934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4F74E4B-EEBE-D3A2-6898-515026DE4657}"/>
              </a:ext>
            </a:extLst>
          </p:cNvPr>
          <p:cNvSpPr/>
          <p:nvPr/>
        </p:nvSpPr>
        <p:spPr>
          <a:xfrm>
            <a:off x="122200" y="15031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9DBBFDA-1C4F-1938-CE40-24CC9000A925}"/>
              </a:ext>
            </a:extLst>
          </p:cNvPr>
          <p:cNvSpPr/>
          <p:nvPr/>
        </p:nvSpPr>
        <p:spPr>
          <a:xfrm>
            <a:off x="361037" y="318033"/>
            <a:ext cx="1736095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6DEF02C-B20A-1DA4-D349-F17963E6953F}"/>
              </a:ext>
            </a:extLst>
          </p:cNvPr>
          <p:cNvSpPr/>
          <p:nvPr/>
        </p:nvSpPr>
        <p:spPr>
          <a:xfrm>
            <a:off x="122201" y="6543017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75D4D7D-6CC2-4BC1-306F-CE7503F6B505}"/>
              </a:ext>
            </a:extLst>
          </p:cNvPr>
          <p:cNvSpPr/>
          <p:nvPr/>
        </p:nvSpPr>
        <p:spPr>
          <a:xfrm>
            <a:off x="338289" y="320915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C41AFBD-2C83-DF65-589A-1D0FB85083CF}"/>
              </a:ext>
            </a:extLst>
          </p:cNvPr>
          <p:cNvSpPr/>
          <p:nvPr/>
        </p:nvSpPr>
        <p:spPr>
          <a:xfrm>
            <a:off x="122200" y="566628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85E2C6B-FF3D-7E5A-B7CB-C56819316DE6}"/>
              </a:ext>
            </a:extLst>
          </p:cNvPr>
          <p:cNvSpPr/>
          <p:nvPr/>
        </p:nvSpPr>
        <p:spPr>
          <a:xfrm>
            <a:off x="338288" y="5541183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CDEEE69-6812-0247-1CE8-F2601BE66665}"/>
              </a:ext>
            </a:extLst>
          </p:cNvPr>
          <p:cNvSpPr/>
          <p:nvPr/>
        </p:nvSpPr>
        <p:spPr>
          <a:xfrm>
            <a:off x="361036" y="6357167"/>
            <a:ext cx="1724722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72748A-B79F-5073-81B6-3336A2CE6E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902" y="1595361"/>
            <a:ext cx="3174996" cy="43790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  <a:defRPr sz="2000">
                <a:solidFill>
                  <a:srgbClr val="344E41"/>
                </a:solidFill>
              </a:defRPr>
            </a:pPr>
            <a:r>
              <a:rPr lang="en-US" err="1">
                <a:solidFill>
                  <a:schemeClr val="bg1"/>
                </a:solidFill>
                <a:ea typeface="+mn-lt"/>
                <a:cs typeface="+mn-lt"/>
              </a:rPr>
              <a:t>Integrantes</a:t>
            </a:r>
            <a:r>
              <a:rPr lang="en-US" sz="2800" dirty="0">
                <a:solidFill>
                  <a:schemeClr val="bg1"/>
                </a:solidFill>
                <a:ea typeface="+mn-lt"/>
                <a:cs typeface="+mn-lt"/>
              </a:rPr>
              <a:t>: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  <a:defRPr sz="2000">
                <a:solidFill>
                  <a:srgbClr val="344E41"/>
                </a:solidFill>
              </a:defRPr>
            </a:pPr>
            <a:endParaRPr lang="en-US" sz="1800" dirty="0">
              <a:solidFill>
                <a:schemeClr val="bg1"/>
              </a:solidFill>
              <a:ea typeface="+mn-lt"/>
              <a:cs typeface="+mn-lt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r>
              <a:rPr lang="en-US" sz="2800" dirty="0">
                <a:solidFill>
                  <a:schemeClr val="bg1"/>
                </a:solidFill>
                <a:ea typeface="Calibri"/>
                <a:cs typeface="Calibri"/>
              </a:rPr>
              <a:t>Igor Augusto 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r>
              <a:rPr lang="en-US" sz="2800" dirty="0">
                <a:solidFill>
                  <a:schemeClr val="bg1"/>
                </a:solidFill>
                <a:ea typeface="Calibri"/>
                <a:cs typeface="Calibri"/>
              </a:rPr>
              <a:t>Ingrid Mendes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r>
              <a:rPr lang="en-US" sz="2800" err="1">
                <a:solidFill>
                  <a:schemeClr val="bg1"/>
                </a:solidFill>
                <a:ea typeface="Calibri"/>
                <a:cs typeface="Calibri"/>
              </a:rPr>
              <a:t>Nauan</a:t>
            </a:r>
            <a:r>
              <a:rPr lang="en-US" sz="2800" dirty="0">
                <a:solidFill>
                  <a:schemeClr val="bg1"/>
                </a:solidFill>
                <a:ea typeface="Calibri"/>
                <a:cs typeface="Calibri"/>
              </a:rPr>
              <a:t> Pereira 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r>
              <a:rPr lang="en-US" sz="2800" dirty="0">
                <a:solidFill>
                  <a:schemeClr val="bg1"/>
                </a:solidFill>
                <a:ea typeface="Calibri"/>
                <a:cs typeface="Calibri"/>
              </a:rPr>
              <a:t>Rafael Mendes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  <a:defRPr sz="2000">
                <a:solidFill>
                  <a:srgbClr val="344E41"/>
                </a:solidFill>
              </a:defRPr>
            </a:pPr>
            <a:endParaRPr lang="en-US" sz="18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  <a:defRPr sz="2000">
                <a:solidFill>
                  <a:srgbClr val="344E41"/>
                </a:solidFill>
              </a:defRPr>
            </a:pPr>
            <a:endParaRPr lang="en-US" sz="1800" dirty="0">
              <a:solidFill>
                <a:schemeClr val="bg1"/>
              </a:solidFill>
              <a:ea typeface="Calibri"/>
              <a:cs typeface="Calibri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8" name="Imagem 17" descr="Logotipo">
            <a:extLst>
              <a:ext uri="{FF2B5EF4-FFF2-40B4-BE49-F238E27FC236}">
                <a16:creationId xmlns:a16="http://schemas.microsoft.com/office/drawing/2014/main" id="{9043C854-A1EE-35C7-D62A-4BD99193F78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</a:blip>
          <a:srcRect l="13936" t="48785" r="14845" b="15436"/>
          <a:stretch>
            <a:fillRect/>
          </a:stretch>
        </p:blipFill>
        <p:spPr>
          <a:xfrm>
            <a:off x="-116874" y="-3200"/>
            <a:ext cx="9256324" cy="685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901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605D6-312B-84F6-2731-5D7651916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958256-C4D8-D4D6-0A3F-79B1C4BB36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DDE1AD-02E9-D4AF-4ED2-2F87FFB2E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B9BAF-E6D0-4469-EF24-B51881EF4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94" y="586149"/>
            <a:ext cx="3612530" cy="98946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344E41"/>
                </a:solidFill>
              </a:defRPr>
            </a:pPr>
            <a:r>
              <a:rPr lang="en-US" sz="3600" dirty="0" err="1">
                <a:solidFill>
                  <a:srgbClr val="DAD7CD"/>
                </a:solidFill>
                <a:ea typeface="+mj-lt"/>
                <a:cs typeface="+mj-lt"/>
              </a:rPr>
              <a:t>Leitura</a:t>
            </a:r>
            <a:r>
              <a:rPr lang="en-US" sz="3600" dirty="0">
                <a:solidFill>
                  <a:srgbClr val="DAD7CD"/>
                </a:solidFill>
                <a:ea typeface="+mj-lt"/>
                <a:cs typeface="+mj-lt"/>
              </a:rPr>
              <a:t> do </a:t>
            </a:r>
            <a:r>
              <a:rPr lang="en-US" sz="3600" dirty="0" err="1">
                <a:solidFill>
                  <a:srgbClr val="DAD7CD"/>
                </a:solidFill>
                <a:ea typeface="+mj-lt"/>
                <a:cs typeface="+mj-lt"/>
              </a:rPr>
              <a:t>Problema</a:t>
            </a:r>
            <a:endParaRPr lang="pt-BR" dirty="0" err="1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6F37E69-7B4B-BB25-9E1C-83569CF65159}"/>
              </a:ext>
            </a:extLst>
          </p:cNvPr>
          <p:cNvSpPr/>
          <p:nvPr/>
        </p:nvSpPr>
        <p:spPr>
          <a:xfrm>
            <a:off x="122201" y="116934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593E9BB-00F7-CDE6-5264-1EAA2AA85F4E}"/>
              </a:ext>
            </a:extLst>
          </p:cNvPr>
          <p:cNvSpPr/>
          <p:nvPr/>
        </p:nvSpPr>
        <p:spPr>
          <a:xfrm>
            <a:off x="122200" y="15031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D476677-C1D0-40CE-0A92-53A833B231D8}"/>
              </a:ext>
            </a:extLst>
          </p:cNvPr>
          <p:cNvSpPr/>
          <p:nvPr/>
        </p:nvSpPr>
        <p:spPr>
          <a:xfrm>
            <a:off x="361037" y="318033"/>
            <a:ext cx="1736095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CB3682F-CC76-069B-2FBD-8DDC09B0FBF9}"/>
              </a:ext>
            </a:extLst>
          </p:cNvPr>
          <p:cNvSpPr/>
          <p:nvPr/>
        </p:nvSpPr>
        <p:spPr>
          <a:xfrm>
            <a:off x="122201" y="6543017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589E186-0B54-8004-DB5F-5A2939A3AA47}"/>
              </a:ext>
            </a:extLst>
          </p:cNvPr>
          <p:cNvSpPr/>
          <p:nvPr/>
        </p:nvSpPr>
        <p:spPr>
          <a:xfrm>
            <a:off x="338289" y="320915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78463EC-C293-0FB7-DABB-A7320F759ED2}"/>
              </a:ext>
            </a:extLst>
          </p:cNvPr>
          <p:cNvSpPr/>
          <p:nvPr/>
        </p:nvSpPr>
        <p:spPr>
          <a:xfrm>
            <a:off x="122200" y="566628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7407550-FF49-E8CB-5BCD-42BAB8F7BA4C}"/>
              </a:ext>
            </a:extLst>
          </p:cNvPr>
          <p:cNvSpPr/>
          <p:nvPr/>
        </p:nvSpPr>
        <p:spPr>
          <a:xfrm>
            <a:off x="338288" y="5541183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F8C42F4-A921-50E7-1A7B-6446C5547B41}"/>
              </a:ext>
            </a:extLst>
          </p:cNvPr>
          <p:cNvSpPr/>
          <p:nvPr/>
        </p:nvSpPr>
        <p:spPr>
          <a:xfrm>
            <a:off x="361036" y="6357167"/>
            <a:ext cx="1724722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C3CB61-5E22-C9EC-0B9F-0D0E61C3A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902" y="1763914"/>
            <a:ext cx="7693084" cy="42104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Dificuldade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em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acessar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informações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atualizadas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sobre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trilhas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,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cachoeiras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e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biodiversidade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da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região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.</a:t>
            </a:r>
            <a:endParaRPr lang="en-US" sz="2000" b="1" dirty="0" err="1">
              <a:solidFill>
                <a:schemeClr val="bg1"/>
              </a:solidFill>
              <a:ea typeface="+mn-lt"/>
              <a:cs typeface="+mn-lt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endParaRPr lang="en-US" sz="1800" dirty="0">
              <a:solidFill>
                <a:srgbClr val="F0F6FC"/>
              </a:solidFill>
              <a:ea typeface="+mn-lt"/>
              <a:cs typeface="+mn-lt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r>
              <a:rPr lang="en-US" sz="1800" dirty="0" err="1">
                <a:solidFill>
                  <a:schemeClr val="bg1"/>
                </a:solidFill>
                <a:ea typeface="+mn-lt"/>
                <a:cs typeface="+mn-lt"/>
              </a:rPr>
              <a:t>Necessidade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a typeface="+mn-lt"/>
                <a:cs typeface="+mn-lt"/>
              </a:rPr>
              <a:t>uma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ferramenta digital moderna e </a:t>
            </a:r>
            <a:r>
              <a:rPr lang="en-US" sz="1800" dirty="0" err="1">
                <a:solidFill>
                  <a:schemeClr val="bg1"/>
                </a:solidFill>
                <a:ea typeface="+mn-lt"/>
                <a:cs typeface="+mn-lt"/>
              </a:rPr>
              <a:t>intuitiva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endParaRPr lang="en-US" sz="1800" dirty="0">
              <a:solidFill>
                <a:schemeClr val="bg1"/>
              </a:solidFill>
              <a:ea typeface="+mn-lt"/>
              <a:cs typeface="+mn-lt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r>
              <a:rPr lang="en-US" sz="1800" dirty="0" err="1">
                <a:solidFill>
                  <a:schemeClr val="bg1"/>
                </a:solidFill>
                <a:ea typeface="+mn-lt"/>
                <a:cs typeface="+mn-lt"/>
              </a:rPr>
              <a:t>Dificuldade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de </a:t>
            </a:r>
            <a:r>
              <a:rPr lang="en-US" sz="1800" dirty="0" err="1">
                <a:solidFill>
                  <a:schemeClr val="bg1"/>
                </a:solidFill>
                <a:ea typeface="+mn-lt"/>
                <a:cs typeface="+mn-lt"/>
              </a:rPr>
              <a:t>planejamento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/>
                </a:solidFill>
                <a:ea typeface="+mn-lt"/>
                <a:cs typeface="+mn-lt"/>
              </a:rPr>
              <a:t>por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chemeClr val="bg1"/>
                </a:solidFill>
                <a:ea typeface="+mn-lt"/>
                <a:cs typeface="+mn-lt"/>
              </a:rPr>
              <a:t>parte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 dos </a:t>
            </a:r>
            <a:r>
              <a:rPr lang="en-US" sz="1800" dirty="0" err="1">
                <a:solidFill>
                  <a:schemeClr val="bg1"/>
                </a:solidFill>
                <a:ea typeface="+mn-lt"/>
                <a:cs typeface="+mn-lt"/>
              </a:rPr>
              <a:t>visitantes</a:t>
            </a:r>
            <a:r>
              <a:rPr lang="en-US" sz="18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20" name="Imagem 19" descr="Logotipo&#10;&#10;O conteúdo gerado por IA pode estar incorreto.">
            <a:extLst>
              <a:ext uri="{FF2B5EF4-FFF2-40B4-BE49-F238E27FC236}">
                <a16:creationId xmlns:a16="http://schemas.microsoft.com/office/drawing/2014/main" id="{C5EB94C2-3009-778C-592D-38CE5411DD9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</a:blip>
          <a:srcRect l="13936" t="48785" r="14845" b="15436"/>
          <a:stretch>
            <a:fillRect/>
          </a:stretch>
        </p:blipFill>
        <p:spPr>
          <a:xfrm>
            <a:off x="-4815" y="-3200"/>
            <a:ext cx="9144266" cy="685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30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354249-3413-89FD-9583-5F1E14AF5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771F37-EEB8-BA40-2347-A992A234F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DA990F-82CD-805B-3357-6947898F12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B6555-6779-DCC8-45CB-371AB05A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94" y="754237"/>
            <a:ext cx="3678164" cy="98946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344E41"/>
                </a:solidFill>
              </a:defRPr>
            </a:pPr>
            <a:r>
              <a:rPr lang="en-US" sz="3600" dirty="0" err="1">
                <a:solidFill>
                  <a:srgbClr val="DAD7CD"/>
                </a:solidFill>
                <a:ea typeface="+mj-lt"/>
                <a:cs typeface="+mj-lt"/>
              </a:rPr>
              <a:t>Nosso</a:t>
            </a:r>
            <a:r>
              <a:rPr lang="en-US" sz="3600" dirty="0">
                <a:solidFill>
                  <a:srgbClr val="DAD7CD"/>
                </a:solidFill>
                <a:ea typeface="+mj-lt"/>
                <a:cs typeface="+mj-lt"/>
              </a:rPr>
              <a:t> </a:t>
            </a:r>
            <a:r>
              <a:rPr lang="en-US" sz="3600" dirty="0" err="1">
                <a:solidFill>
                  <a:srgbClr val="DAD7CD"/>
                </a:solidFill>
                <a:ea typeface="+mj-lt"/>
                <a:cs typeface="+mj-lt"/>
              </a:rPr>
              <a:t>Objetivo</a:t>
            </a:r>
            <a:r>
              <a:rPr lang="en-US" sz="3600" dirty="0">
                <a:solidFill>
                  <a:srgbClr val="DAD7CD"/>
                </a:solidFill>
                <a:ea typeface="+mj-lt"/>
                <a:cs typeface="+mj-lt"/>
              </a:rPr>
              <a:t>:</a:t>
            </a:r>
            <a:endParaRPr lang="en-US" dirty="0">
              <a:solidFill>
                <a:srgbClr val="DAD7CD"/>
              </a:solidFill>
              <a:ea typeface="Calibri"/>
              <a:cs typeface="Calibri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E7CBD12-CDBA-AAD2-4B5C-F4BC860D1F76}"/>
              </a:ext>
            </a:extLst>
          </p:cNvPr>
          <p:cNvSpPr/>
          <p:nvPr/>
        </p:nvSpPr>
        <p:spPr>
          <a:xfrm>
            <a:off x="122201" y="116934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EB228D0-4677-3E3B-2B60-8086293889EC}"/>
              </a:ext>
            </a:extLst>
          </p:cNvPr>
          <p:cNvSpPr/>
          <p:nvPr/>
        </p:nvSpPr>
        <p:spPr>
          <a:xfrm>
            <a:off x="122200" y="15031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DA39B65-C8CF-60FC-CAD0-635E7E216C68}"/>
              </a:ext>
            </a:extLst>
          </p:cNvPr>
          <p:cNvSpPr/>
          <p:nvPr/>
        </p:nvSpPr>
        <p:spPr>
          <a:xfrm>
            <a:off x="361037" y="318033"/>
            <a:ext cx="1736095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330DA9E-A37A-EC77-1F5B-F7B7BDA9D8E1}"/>
              </a:ext>
            </a:extLst>
          </p:cNvPr>
          <p:cNvSpPr/>
          <p:nvPr/>
        </p:nvSpPr>
        <p:spPr>
          <a:xfrm>
            <a:off x="122201" y="6543017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5D4F419-F2AC-3427-0586-3C307F420F66}"/>
              </a:ext>
            </a:extLst>
          </p:cNvPr>
          <p:cNvSpPr/>
          <p:nvPr/>
        </p:nvSpPr>
        <p:spPr>
          <a:xfrm>
            <a:off x="338289" y="320915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F34B765-5563-11C1-1C88-271881189E23}"/>
              </a:ext>
            </a:extLst>
          </p:cNvPr>
          <p:cNvSpPr/>
          <p:nvPr/>
        </p:nvSpPr>
        <p:spPr>
          <a:xfrm>
            <a:off x="122200" y="566628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B1BDD3D-6F41-2919-F868-EBA2775A5EC1}"/>
              </a:ext>
            </a:extLst>
          </p:cNvPr>
          <p:cNvSpPr/>
          <p:nvPr/>
        </p:nvSpPr>
        <p:spPr>
          <a:xfrm>
            <a:off x="338288" y="5541183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BD70C28-9E13-8BE0-894A-BC74E6C4A511}"/>
              </a:ext>
            </a:extLst>
          </p:cNvPr>
          <p:cNvSpPr/>
          <p:nvPr/>
        </p:nvSpPr>
        <p:spPr>
          <a:xfrm>
            <a:off x="361036" y="6357167"/>
            <a:ext cx="1724722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6579F0-4690-6058-3614-68B5A7F5C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902" y="1877573"/>
            <a:ext cx="5347853" cy="19004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Transformar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 a </a:t>
            </a: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experiência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turística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 de Teresópolis e valorizar o ecoturismo local com </a:t>
            </a: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uma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 ferramenta moderna, </a:t>
            </a: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intuitiva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 e </a:t>
            </a: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acessível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.</a:t>
            </a:r>
            <a:endParaRPr lang="en-US" sz="2000" b="1" dirty="0" err="1">
              <a:solidFill>
                <a:srgbClr val="F0F6FC"/>
              </a:solidFill>
              <a:ea typeface="+mn-lt"/>
              <a:cs typeface="+mn-lt"/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D5F4F971-6523-417B-2FF9-9ABC17F1C08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805060" y="145675"/>
            <a:ext cx="2190173" cy="2185148"/>
          </a:xfrm>
          <a:prstGeom prst="rect">
            <a:avLst/>
          </a:prstGeom>
        </p:spPr>
      </p:pic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DA961E9B-D235-E134-3739-B49404DA804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5210251" y="2330823"/>
            <a:ext cx="2197320" cy="2185148"/>
          </a:xfrm>
          <a:prstGeom prst="rect">
            <a:avLst/>
          </a:prstGeom>
        </p:spPr>
      </p:pic>
      <p:pic>
        <p:nvPicPr>
          <p:cNvPr id="16" name="Imagem 15" descr="Logotipo, Ícone&#10;&#10;O conteúdo gerado por IA pode estar incorreto.">
            <a:extLst>
              <a:ext uri="{FF2B5EF4-FFF2-40B4-BE49-F238E27FC236}">
                <a16:creationId xmlns:a16="http://schemas.microsoft.com/office/drawing/2014/main" id="{181FACF4-C2F5-C5F4-54DA-CD658644EDF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6924751" y="4515970"/>
            <a:ext cx="2074056" cy="205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50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6E1480-A1FA-F371-5145-D20C4122F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87226C-0EE8-1F3E-57BD-BFC327106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7CC9E9-4386-D8E3-A286-154BE9BBF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16CCB1-C2D8-A6BB-8066-00E4109D9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94" y="586149"/>
            <a:ext cx="2008488" cy="98946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344E41"/>
                </a:solidFill>
              </a:defRPr>
            </a:pPr>
            <a:r>
              <a:rPr lang="en-US" sz="3600" dirty="0">
                <a:solidFill>
                  <a:srgbClr val="DAD7CD"/>
                </a:solidFill>
                <a:ea typeface="+mj-lt"/>
                <a:cs typeface="+mj-lt"/>
              </a:rPr>
              <a:t>O MVP: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5E186C8-8FD8-B258-DD10-6B6FC091C963}"/>
              </a:ext>
            </a:extLst>
          </p:cNvPr>
          <p:cNvSpPr/>
          <p:nvPr/>
        </p:nvSpPr>
        <p:spPr>
          <a:xfrm>
            <a:off x="122201" y="116934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38C73C5-9745-6A71-1F63-F7BC44C42133}"/>
              </a:ext>
            </a:extLst>
          </p:cNvPr>
          <p:cNvSpPr/>
          <p:nvPr/>
        </p:nvSpPr>
        <p:spPr>
          <a:xfrm>
            <a:off x="122200" y="15031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2AD76FD-780A-F353-8B74-74E74D22C383}"/>
              </a:ext>
            </a:extLst>
          </p:cNvPr>
          <p:cNvSpPr/>
          <p:nvPr/>
        </p:nvSpPr>
        <p:spPr>
          <a:xfrm>
            <a:off x="361037" y="318033"/>
            <a:ext cx="1736095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642B10F-994D-4DCE-35C6-1EA91F3935B5}"/>
              </a:ext>
            </a:extLst>
          </p:cNvPr>
          <p:cNvSpPr/>
          <p:nvPr/>
        </p:nvSpPr>
        <p:spPr>
          <a:xfrm>
            <a:off x="122201" y="6543017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AD5371E-3AAE-81C0-3502-A05CD9C8C577}"/>
              </a:ext>
            </a:extLst>
          </p:cNvPr>
          <p:cNvSpPr/>
          <p:nvPr/>
        </p:nvSpPr>
        <p:spPr>
          <a:xfrm>
            <a:off x="338289" y="320915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AF71D9D-2F5B-BCE3-F266-0E04899B070B}"/>
              </a:ext>
            </a:extLst>
          </p:cNvPr>
          <p:cNvSpPr/>
          <p:nvPr/>
        </p:nvSpPr>
        <p:spPr>
          <a:xfrm>
            <a:off x="122200" y="566628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8E90C07-3449-A1B7-50A3-C4CB5B920E57}"/>
              </a:ext>
            </a:extLst>
          </p:cNvPr>
          <p:cNvSpPr/>
          <p:nvPr/>
        </p:nvSpPr>
        <p:spPr>
          <a:xfrm>
            <a:off x="338288" y="5541183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E07C0AC-22B4-79A4-5078-38A95FFD9B68}"/>
              </a:ext>
            </a:extLst>
          </p:cNvPr>
          <p:cNvSpPr/>
          <p:nvPr/>
        </p:nvSpPr>
        <p:spPr>
          <a:xfrm>
            <a:off x="361036" y="6357167"/>
            <a:ext cx="1724722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568EDD6-F683-77FE-89FF-81882DF14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902" y="1821544"/>
            <a:ext cx="4417765" cy="3951156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Inclui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uma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página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 completa com </a:t>
            </a: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informações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claras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sobre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cada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parque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r>
              <a:rPr lang="en-US" sz="2000" dirty="0" err="1">
                <a:solidFill>
                  <a:srgbClr val="F0F6FC"/>
                </a:solidFill>
                <a:ea typeface="+mn-lt"/>
                <a:cs typeface="+mn-lt"/>
              </a:rPr>
              <a:t>Inclui</a:t>
            </a:r>
            <a:r>
              <a:rPr lang="en-US" sz="2000" dirty="0">
                <a:solidFill>
                  <a:srgbClr val="F0F6FC"/>
                </a:solidFill>
                <a:ea typeface="+mn-lt"/>
                <a:cs typeface="+mn-lt"/>
              </a:rPr>
              <a:t> 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um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sistema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postagens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onde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administradores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podem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divulgar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comunicados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eventos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curiosidades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ou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avisos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segurança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defRPr sz="2000">
                <a:solidFill>
                  <a:srgbClr val="344E41"/>
                </a:solidFill>
              </a:defRPr>
            </a:pP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Inclui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umainterface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responsiva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que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funciona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perfeitamente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no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celular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e no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computador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2000" dirty="0" err="1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F24C617D-7DD6-9AF6-FBD9-C7E2E4C4D95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805060" y="145675"/>
            <a:ext cx="2190173" cy="2185148"/>
          </a:xfrm>
          <a:prstGeom prst="rect">
            <a:avLst/>
          </a:prstGeom>
        </p:spPr>
      </p:pic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34959C38-229B-32D8-9D70-62274B30169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8000"/>
          </a:blip>
          <a:stretch>
            <a:fillRect/>
          </a:stretch>
        </p:blipFill>
        <p:spPr>
          <a:xfrm>
            <a:off x="5210251" y="2330823"/>
            <a:ext cx="2197320" cy="2185148"/>
          </a:xfrm>
          <a:prstGeom prst="rect">
            <a:avLst/>
          </a:prstGeom>
        </p:spPr>
      </p:pic>
      <p:pic>
        <p:nvPicPr>
          <p:cNvPr id="16" name="Imagem 15" descr="Logotipo, Ícone&#10;&#10;O conteúdo gerado por IA pode estar incorreto.">
            <a:extLst>
              <a:ext uri="{FF2B5EF4-FFF2-40B4-BE49-F238E27FC236}">
                <a16:creationId xmlns:a16="http://schemas.microsoft.com/office/drawing/2014/main" id="{679D8921-4962-346F-2764-0AEC152803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6924751" y="4515970"/>
            <a:ext cx="2074056" cy="205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348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3EDFBC-3FAF-F3C9-C1CA-072B47FD6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4C3934-EE84-952E-C35B-353660834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1AE2A0-811C-738A-3743-6AE54A44D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50A3F-5983-FDD7-309A-937C96A05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902" y="2490799"/>
            <a:ext cx="7851102" cy="34941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buAutoNum type="arabicPeriod"/>
              <a:defRPr sz="2000">
                <a:solidFill>
                  <a:srgbClr val="344E41"/>
                </a:solidFill>
              </a:defRPr>
            </a:pPr>
            <a:r>
              <a:rPr lang="en-US" sz="1800" b="1" dirty="0">
                <a:solidFill>
                  <a:srgbClr val="F0F6FC"/>
                </a:solidFill>
                <a:ea typeface="+mn-lt"/>
                <a:cs typeface="+mn-lt"/>
              </a:rPr>
              <a:t>Vite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 —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Utilizado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como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bundler e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servidor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de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desenvolvimento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para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garantir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builds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rápidas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e um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ambiente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leve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durante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o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desenvolvimento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.</a:t>
            </a:r>
            <a:endParaRPr lang="pt-BR" sz="1800" dirty="0">
              <a:ea typeface="Calibri"/>
              <a:cs typeface="Calibri"/>
            </a:endParaRPr>
          </a:p>
          <a:p>
            <a:pPr defTabSz="914400">
              <a:buAutoNum type="arabicPeriod"/>
              <a:defRPr sz="2000">
                <a:solidFill>
                  <a:srgbClr val="344E41"/>
                </a:solidFill>
              </a:defRPr>
            </a:pPr>
            <a:r>
              <a:rPr lang="en-US" sz="1800" b="1" dirty="0">
                <a:solidFill>
                  <a:srgbClr val="F0F6FC"/>
                </a:solidFill>
                <a:ea typeface="+mn-lt"/>
                <a:cs typeface="+mn-lt"/>
              </a:rPr>
              <a:t>React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 —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Utilizado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para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estruturar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toda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a interface do site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por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meio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de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componentes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funcionais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.</a:t>
            </a:r>
            <a:endParaRPr lang="en-US" sz="1800">
              <a:ea typeface="Calibri"/>
              <a:cs typeface="Calibri"/>
            </a:endParaRPr>
          </a:p>
          <a:p>
            <a:pPr defTabSz="914400">
              <a:buAutoNum type="arabicPeriod"/>
              <a:defRPr sz="2000">
                <a:solidFill>
                  <a:srgbClr val="344E41"/>
                </a:solidFill>
              </a:defRPr>
            </a:pPr>
            <a:r>
              <a:rPr lang="en-US" sz="1800" b="1" dirty="0">
                <a:solidFill>
                  <a:srgbClr val="F0F6FC"/>
                </a:solidFill>
                <a:ea typeface="+mn-lt"/>
                <a:cs typeface="+mn-lt"/>
              </a:rPr>
              <a:t>Tailwind CSS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 —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Usado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para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estilizar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o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projeto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com classes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utilitárias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,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mantendo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o layout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rápido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de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ajustar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e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responsivo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.</a:t>
            </a:r>
            <a:endParaRPr lang="en-US" sz="1800" dirty="0">
              <a:ea typeface="Calibri"/>
              <a:cs typeface="Calibri"/>
            </a:endParaRPr>
          </a:p>
          <a:p>
            <a:pPr defTabSz="914400">
              <a:buAutoNum type="arabicPeriod"/>
              <a:defRPr sz="2000">
                <a:solidFill>
                  <a:srgbClr val="344E41"/>
                </a:solidFill>
              </a:defRPr>
            </a:pPr>
            <a:r>
              <a:rPr lang="en-US" sz="1800" b="1" dirty="0" err="1">
                <a:solidFill>
                  <a:srgbClr val="F0F6FC"/>
                </a:solidFill>
                <a:ea typeface="+mn-lt"/>
                <a:cs typeface="+mn-lt"/>
              </a:rPr>
              <a:t>Lucide</a:t>
            </a:r>
            <a:r>
              <a:rPr lang="en-US" sz="1800" b="1" dirty="0">
                <a:solidFill>
                  <a:srgbClr val="F0F6FC"/>
                </a:solidFill>
                <a:ea typeface="+mn-lt"/>
                <a:cs typeface="+mn-lt"/>
              </a:rPr>
              <a:t> React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 —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Utilizado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para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inserir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ícones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leves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e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consistentes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em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diferentes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partes da interface.</a:t>
            </a:r>
            <a:endParaRPr lang="en-US" sz="1800" dirty="0">
              <a:ea typeface="Calibri"/>
              <a:cs typeface="Calibri"/>
            </a:endParaRPr>
          </a:p>
          <a:p>
            <a:pPr defTabSz="914400">
              <a:buAutoNum type="arabicPeriod"/>
              <a:defRPr sz="2000">
                <a:solidFill>
                  <a:srgbClr val="344E41"/>
                </a:solidFill>
              </a:defRPr>
            </a:pPr>
            <a:r>
              <a:rPr lang="en-US" sz="1800" b="1" dirty="0">
                <a:solidFill>
                  <a:srgbClr val="F0F6FC"/>
                </a:solidFill>
                <a:ea typeface="+mn-lt"/>
                <a:cs typeface="+mn-lt"/>
              </a:rPr>
              <a:t>Embla Carousel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 —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Implementado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para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criar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o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carrossel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de forma simples,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fluida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e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totalmente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integrada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aos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</a:t>
            </a:r>
            <a:r>
              <a:rPr lang="en-US" sz="1800" dirty="0" err="1">
                <a:solidFill>
                  <a:srgbClr val="F0F6FC"/>
                </a:solidFill>
                <a:ea typeface="+mn-lt"/>
                <a:cs typeface="+mn-lt"/>
              </a:rPr>
              <a:t>componentes</a:t>
            </a:r>
            <a:r>
              <a:rPr lang="en-US" sz="1800" dirty="0">
                <a:solidFill>
                  <a:srgbClr val="F0F6FC"/>
                </a:solidFill>
                <a:ea typeface="+mn-lt"/>
                <a:cs typeface="+mn-lt"/>
              </a:rPr>
              <a:t> do React.</a:t>
            </a:r>
            <a:endParaRPr lang="en-US" sz="1400" dirty="0">
              <a:ea typeface="Calibri"/>
              <a:cs typeface="Calibri"/>
            </a:endParaRP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  <a:defRPr sz="2000">
                <a:solidFill>
                  <a:srgbClr val="344E41"/>
                </a:solidFill>
              </a:defRPr>
            </a:pPr>
            <a:endParaRPr lang="en-US" sz="2000" b="1" dirty="0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AutoNum type="arabicPeriod"/>
              <a:defRPr sz="2000">
                <a:solidFill>
                  <a:srgbClr val="344E41"/>
                </a:solidFill>
              </a:defRPr>
            </a:pPr>
            <a:endParaRPr lang="en-US" sz="20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85F936-DB42-7D07-D2A8-5B953BBBF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94" y="586149"/>
            <a:ext cx="8250159" cy="7686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344E41"/>
                </a:solidFill>
              </a:defRPr>
            </a:pPr>
            <a:r>
              <a:rPr lang="en-US" sz="3600" dirty="0" err="1">
                <a:solidFill>
                  <a:srgbClr val="DAD7CD"/>
                </a:solidFill>
                <a:ea typeface="+mj-lt"/>
                <a:cs typeface="+mj-lt"/>
              </a:rPr>
              <a:t>Tecnologias</a:t>
            </a:r>
            <a:r>
              <a:rPr lang="en-US" sz="3600" dirty="0">
                <a:solidFill>
                  <a:srgbClr val="DAD7CD"/>
                </a:solidFill>
                <a:ea typeface="+mj-lt"/>
                <a:cs typeface="+mj-lt"/>
              </a:rPr>
              <a:t> </a:t>
            </a:r>
            <a:r>
              <a:rPr lang="en-US" sz="3600" dirty="0" err="1">
                <a:solidFill>
                  <a:srgbClr val="DAD7CD"/>
                </a:solidFill>
                <a:ea typeface="+mj-lt"/>
                <a:cs typeface="+mj-lt"/>
              </a:rPr>
              <a:t>utilizadas</a:t>
            </a:r>
            <a:endParaRPr lang="pt-BR" dirty="0" err="1">
              <a:ea typeface="+mj-lt"/>
              <a:cs typeface="+mj-lt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F938615-2635-9088-5A5A-5D23E1D9FED1}"/>
              </a:ext>
            </a:extLst>
          </p:cNvPr>
          <p:cNvSpPr/>
          <p:nvPr/>
        </p:nvSpPr>
        <p:spPr>
          <a:xfrm>
            <a:off x="122201" y="116934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BE1C6CC-A233-E595-9403-207F0CC8FD7A}"/>
              </a:ext>
            </a:extLst>
          </p:cNvPr>
          <p:cNvSpPr/>
          <p:nvPr/>
        </p:nvSpPr>
        <p:spPr>
          <a:xfrm>
            <a:off x="122200" y="15031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9CA7367-4365-361A-CD71-82B9AA8F8DD8}"/>
              </a:ext>
            </a:extLst>
          </p:cNvPr>
          <p:cNvSpPr/>
          <p:nvPr/>
        </p:nvSpPr>
        <p:spPr>
          <a:xfrm>
            <a:off x="361037" y="318033"/>
            <a:ext cx="1736095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B32800D-9DE9-FB02-9B79-45E94B225D6E}"/>
              </a:ext>
            </a:extLst>
          </p:cNvPr>
          <p:cNvSpPr/>
          <p:nvPr/>
        </p:nvSpPr>
        <p:spPr>
          <a:xfrm>
            <a:off x="122201" y="6543017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4619ECD-94E1-806E-32CC-93CAC14A2915}"/>
              </a:ext>
            </a:extLst>
          </p:cNvPr>
          <p:cNvSpPr/>
          <p:nvPr/>
        </p:nvSpPr>
        <p:spPr>
          <a:xfrm>
            <a:off x="338289" y="320915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070BA26-1D77-F17F-498B-FF2F027A452B}"/>
              </a:ext>
            </a:extLst>
          </p:cNvPr>
          <p:cNvSpPr/>
          <p:nvPr/>
        </p:nvSpPr>
        <p:spPr>
          <a:xfrm>
            <a:off x="122200" y="566628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5BB49BB-5C84-B03B-23C4-532845C433D6}"/>
              </a:ext>
            </a:extLst>
          </p:cNvPr>
          <p:cNvSpPr/>
          <p:nvPr/>
        </p:nvSpPr>
        <p:spPr>
          <a:xfrm>
            <a:off x="338288" y="5541183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BD28809-FE1A-6A29-A840-512846B10613}"/>
              </a:ext>
            </a:extLst>
          </p:cNvPr>
          <p:cNvSpPr/>
          <p:nvPr/>
        </p:nvSpPr>
        <p:spPr>
          <a:xfrm>
            <a:off x="361036" y="6357167"/>
            <a:ext cx="1724722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Logotipo">
            <a:extLst>
              <a:ext uri="{FF2B5EF4-FFF2-40B4-BE49-F238E27FC236}">
                <a16:creationId xmlns:a16="http://schemas.microsoft.com/office/drawing/2014/main" id="{8AD42C67-2017-DFC8-7C49-62C3FD2C53B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</a:blip>
          <a:srcRect l="13936" t="48785" r="14845" b="15436"/>
          <a:stretch>
            <a:fillRect/>
          </a:stretch>
        </p:blipFill>
        <p:spPr>
          <a:xfrm>
            <a:off x="3501025" y="-3200"/>
            <a:ext cx="9144266" cy="685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375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D63FF-3604-1AA1-64BD-E98457802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F3055B4-720B-0D26-96D9-2662A0135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9B8F9B-5F21-B797-2773-1336CDDD7C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C65C6-92C3-F883-12B8-2B550C3D7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902" y="2490799"/>
            <a:ext cx="7851102" cy="34941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AutoNum type="arabicPeriod"/>
              <a:defRPr sz="2000">
                <a:solidFill>
                  <a:srgbClr val="344E41"/>
                </a:solidFill>
              </a:defRPr>
            </a:pPr>
            <a:r>
              <a:rPr lang="en-US" sz="2000" err="1">
                <a:solidFill>
                  <a:schemeClr val="bg1"/>
                </a:solidFill>
                <a:ea typeface="+mn-lt"/>
                <a:cs typeface="+mn-lt"/>
              </a:rPr>
              <a:t>Integração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com um banco de dados para </a:t>
            </a:r>
            <a:r>
              <a:rPr lang="en-US" sz="2000" err="1">
                <a:solidFill>
                  <a:schemeClr val="bg1"/>
                </a:solidFill>
                <a:ea typeface="+mn-lt"/>
                <a:cs typeface="+mn-lt"/>
              </a:rPr>
              <a:t>salvar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err="1">
                <a:solidFill>
                  <a:schemeClr val="bg1"/>
                </a:solidFill>
                <a:ea typeface="+mn-lt"/>
                <a:cs typeface="+mn-lt"/>
              </a:rPr>
              <a:t>usuários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e </a:t>
            </a:r>
            <a:r>
              <a:rPr lang="en-US" sz="2000" err="1">
                <a:solidFill>
                  <a:schemeClr val="bg1"/>
                </a:solidFill>
                <a:ea typeface="+mn-lt"/>
                <a:cs typeface="+mn-lt"/>
              </a:rPr>
              <a:t>agendamentos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pt-BR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AutoNum type="arabicPeriod"/>
              <a:defRPr sz="2000">
                <a:solidFill>
                  <a:srgbClr val="344E41"/>
                </a:solidFill>
              </a:defRPr>
            </a:pP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Possibilidade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de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Cadastrar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mais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parques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e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atrações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AutoNum type="arabicPeriod"/>
              <a:defRPr sz="2000">
                <a:solidFill>
                  <a:srgbClr val="344E41"/>
                </a:solidFill>
              </a:defRPr>
            </a:pP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Agendamento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para Camping.</a:t>
            </a: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AutoNum type="arabicPeriod"/>
              <a:defRPr sz="2000">
                <a:solidFill>
                  <a:srgbClr val="344E41"/>
                </a:solidFill>
              </a:defRPr>
            </a:pP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Feedback visual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mais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interativo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 para </a:t>
            </a:r>
            <a:r>
              <a:rPr lang="en-US" sz="2000" dirty="0" err="1">
                <a:solidFill>
                  <a:schemeClr val="bg1"/>
                </a:solidFill>
                <a:ea typeface="+mn-lt"/>
                <a:cs typeface="+mn-lt"/>
              </a:rPr>
              <a:t>validações</a:t>
            </a:r>
            <a:r>
              <a:rPr lang="en-US" sz="2000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AutoNum type="arabicPeriod"/>
              <a:defRPr sz="2000">
                <a:solidFill>
                  <a:srgbClr val="344E41"/>
                </a:solidFill>
              </a:defRPr>
            </a:pPr>
            <a:endParaRPr lang="en-US" sz="20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8E467-463F-DEC1-B409-A227EA5F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94" y="586149"/>
            <a:ext cx="8250159" cy="768607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344E41"/>
                </a:solidFill>
              </a:defRPr>
            </a:pPr>
            <a:r>
              <a:rPr lang="en-US" dirty="0" err="1">
                <a:solidFill>
                  <a:srgbClr val="DAD7CD"/>
                </a:solidFill>
                <a:ea typeface="+mj-lt"/>
                <a:cs typeface="+mj-lt"/>
              </a:rPr>
              <a:t>Versões</a:t>
            </a:r>
            <a:r>
              <a:rPr lang="en-US" dirty="0">
                <a:solidFill>
                  <a:srgbClr val="DAD7CD"/>
                </a:solidFill>
                <a:ea typeface="+mj-lt"/>
                <a:cs typeface="+mj-lt"/>
              </a:rPr>
              <a:t> </a:t>
            </a:r>
            <a:r>
              <a:rPr lang="en-US" dirty="0" err="1">
                <a:solidFill>
                  <a:srgbClr val="DAD7CD"/>
                </a:solidFill>
                <a:ea typeface="+mj-lt"/>
                <a:cs typeface="+mj-lt"/>
              </a:rPr>
              <a:t>futuras</a:t>
            </a:r>
            <a:endParaRPr lang="pt-BR" dirty="0" err="1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1E8011D-78A2-31F6-DA7A-0FCF67402231}"/>
              </a:ext>
            </a:extLst>
          </p:cNvPr>
          <p:cNvSpPr/>
          <p:nvPr/>
        </p:nvSpPr>
        <p:spPr>
          <a:xfrm>
            <a:off x="122201" y="116934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73E1013-3D13-2636-EE87-17D9FECD319A}"/>
              </a:ext>
            </a:extLst>
          </p:cNvPr>
          <p:cNvSpPr/>
          <p:nvPr/>
        </p:nvSpPr>
        <p:spPr>
          <a:xfrm>
            <a:off x="122200" y="15031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217785A-BF18-1F92-F98B-08542D6DDD97}"/>
              </a:ext>
            </a:extLst>
          </p:cNvPr>
          <p:cNvSpPr/>
          <p:nvPr/>
        </p:nvSpPr>
        <p:spPr>
          <a:xfrm>
            <a:off x="361037" y="318033"/>
            <a:ext cx="1736095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AD8DA4E-273F-DB96-6C44-91AB69F6FDF6}"/>
              </a:ext>
            </a:extLst>
          </p:cNvPr>
          <p:cNvSpPr/>
          <p:nvPr/>
        </p:nvSpPr>
        <p:spPr>
          <a:xfrm>
            <a:off x="122201" y="6543017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67CAE43-707A-247F-5C1D-620FF9D7C847}"/>
              </a:ext>
            </a:extLst>
          </p:cNvPr>
          <p:cNvSpPr/>
          <p:nvPr/>
        </p:nvSpPr>
        <p:spPr>
          <a:xfrm>
            <a:off x="338289" y="320915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184ADC7-ECA4-EE80-5187-363B9B514B7C}"/>
              </a:ext>
            </a:extLst>
          </p:cNvPr>
          <p:cNvSpPr/>
          <p:nvPr/>
        </p:nvSpPr>
        <p:spPr>
          <a:xfrm>
            <a:off x="122200" y="566628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F8AD04F-204F-BF44-0815-99365A119284}"/>
              </a:ext>
            </a:extLst>
          </p:cNvPr>
          <p:cNvSpPr/>
          <p:nvPr/>
        </p:nvSpPr>
        <p:spPr>
          <a:xfrm>
            <a:off x="338288" y="5541183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2E72BB7-818C-BBD5-6511-A9D27D39773E}"/>
              </a:ext>
            </a:extLst>
          </p:cNvPr>
          <p:cNvSpPr/>
          <p:nvPr/>
        </p:nvSpPr>
        <p:spPr>
          <a:xfrm>
            <a:off x="361036" y="6357167"/>
            <a:ext cx="1724722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Logotipo&#10;&#10;O conteúdo gerado por IA pode estar incorreto.">
            <a:extLst>
              <a:ext uri="{FF2B5EF4-FFF2-40B4-BE49-F238E27FC236}">
                <a16:creationId xmlns:a16="http://schemas.microsoft.com/office/drawing/2014/main" id="{C81B5DBF-1A0F-2CE9-BAE1-A309C2B215D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</a:blip>
          <a:srcRect l="13936" t="48785" r="14845" b="15436"/>
          <a:stretch>
            <a:fillRect/>
          </a:stretch>
        </p:blipFill>
        <p:spPr>
          <a:xfrm>
            <a:off x="-4815" y="-3200"/>
            <a:ext cx="9144266" cy="685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771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D832E1-1CCA-E4A5-0284-6F0F31D3F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C197D2-603D-63D2-F0B1-3D662D25C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9F766B-BADE-57D4-3A6B-51F8F83B6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499D8-F127-1A93-D24C-A4FC3DFB5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902" y="2490799"/>
            <a:ext cx="7851102" cy="34941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AutoNum type="arabicPeriod"/>
              <a:defRPr sz="2000">
                <a:solidFill>
                  <a:srgbClr val="344E41"/>
                </a:solidFill>
              </a:defRPr>
            </a:pP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457200" indent="-457200" defTabSz="914400">
              <a:lnSpc>
                <a:spcPct val="90000"/>
              </a:lnSpc>
              <a:spcBef>
                <a:spcPts val="1000"/>
              </a:spcBef>
              <a:buAutoNum type="arabicPeriod"/>
              <a:defRPr sz="2000">
                <a:solidFill>
                  <a:srgbClr val="344E41"/>
                </a:solidFill>
              </a:defRPr>
            </a:pPr>
            <a:endParaRPr lang="en-US" sz="20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8ECB5A-FC25-8A1C-F768-10DEEF0B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94" y="643015"/>
            <a:ext cx="8250159" cy="768607"/>
          </a:xfrm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  <a:defRPr sz="3600" b="1">
                <a:solidFill>
                  <a:srgbClr val="344E41"/>
                </a:solidFill>
              </a:defRPr>
            </a:pPr>
            <a:r>
              <a:rPr lang="en-US" sz="7200" err="1">
                <a:solidFill>
                  <a:srgbClr val="DAD7CD"/>
                </a:solidFill>
                <a:ea typeface="+mj-lt"/>
                <a:cs typeface="+mj-lt"/>
              </a:rPr>
              <a:t>Encerramento</a:t>
            </a:r>
            <a:endParaRPr lang="en-US" sz="7200" err="1">
              <a:solidFill>
                <a:srgbClr val="DAD7CD"/>
              </a:solidFill>
              <a:ea typeface="Calibri"/>
              <a:cs typeface="Calibri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870F06D-4925-45DC-1D7B-8DF335CDAD0F}"/>
              </a:ext>
            </a:extLst>
          </p:cNvPr>
          <p:cNvSpPr/>
          <p:nvPr/>
        </p:nvSpPr>
        <p:spPr>
          <a:xfrm>
            <a:off x="122201" y="116934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692BC77-B39D-1404-7A46-3E47EBDAAD20}"/>
              </a:ext>
            </a:extLst>
          </p:cNvPr>
          <p:cNvSpPr/>
          <p:nvPr/>
        </p:nvSpPr>
        <p:spPr>
          <a:xfrm>
            <a:off x="122200" y="15031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9303B27-461A-4DF8-0E6D-2F46FCCF6315}"/>
              </a:ext>
            </a:extLst>
          </p:cNvPr>
          <p:cNvSpPr/>
          <p:nvPr/>
        </p:nvSpPr>
        <p:spPr>
          <a:xfrm>
            <a:off x="361037" y="318033"/>
            <a:ext cx="1736095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D414FDF-AE57-3FE5-9041-64F09578AC8A}"/>
              </a:ext>
            </a:extLst>
          </p:cNvPr>
          <p:cNvSpPr/>
          <p:nvPr/>
        </p:nvSpPr>
        <p:spPr>
          <a:xfrm>
            <a:off x="122201" y="6543017"/>
            <a:ext cx="4548823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u="sng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9ACADE4-7238-86A9-CB72-1487E1267FBA}"/>
              </a:ext>
            </a:extLst>
          </p:cNvPr>
          <p:cNvSpPr/>
          <p:nvPr/>
        </p:nvSpPr>
        <p:spPr>
          <a:xfrm>
            <a:off x="338289" y="320915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D6DADED-F8A2-161B-CA4B-6F7E499951DE}"/>
              </a:ext>
            </a:extLst>
          </p:cNvPr>
          <p:cNvSpPr/>
          <p:nvPr/>
        </p:nvSpPr>
        <p:spPr>
          <a:xfrm>
            <a:off x="122200" y="5666289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8D88914-DABD-0E84-3402-E08C84A3927B}"/>
              </a:ext>
            </a:extLst>
          </p:cNvPr>
          <p:cNvSpPr/>
          <p:nvPr/>
        </p:nvSpPr>
        <p:spPr>
          <a:xfrm>
            <a:off x="338288" y="5541183"/>
            <a:ext cx="61154" cy="868593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D8D0BCC-F1B5-77CC-5AAF-BC32C5BE1890}"/>
              </a:ext>
            </a:extLst>
          </p:cNvPr>
          <p:cNvSpPr/>
          <p:nvPr/>
        </p:nvSpPr>
        <p:spPr>
          <a:xfrm>
            <a:off x="361036" y="6357167"/>
            <a:ext cx="1724722" cy="6110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Logotipo">
            <a:extLst>
              <a:ext uri="{FF2B5EF4-FFF2-40B4-BE49-F238E27FC236}">
                <a16:creationId xmlns:a16="http://schemas.microsoft.com/office/drawing/2014/main" id="{0259FAC3-48FE-34D5-93CD-7F4E03160C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"/>
          </a:blip>
          <a:srcRect l="13936" t="48785" r="14845" b="15436"/>
          <a:stretch>
            <a:fillRect/>
          </a:stretch>
        </p:blipFill>
        <p:spPr>
          <a:xfrm>
            <a:off x="-4815" y="-3200"/>
            <a:ext cx="9144266" cy="685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231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Apresentação na tela (4:3)</PresentationFormat>
  <Paragraphs>0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Circuito Terê Verde</vt:lpstr>
      <vt:lpstr>Grupo 2 </vt:lpstr>
      <vt:lpstr>Leitura do Problema</vt:lpstr>
      <vt:lpstr>Nosso Objetivo:</vt:lpstr>
      <vt:lpstr>O MVP:</vt:lpstr>
      <vt:lpstr>Tecnologias utilizadas</vt:lpstr>
      <vt:lpstr>Versões futuras</vt:lpstr>
      <vt:lpstr>Encerramento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387</cp:revision>
  <dcterms:created xsi:type="dcterms:W3CDTF">2013-01-27T09:14:16Z</dcterms:created>
  <dcterms:modified xsi:type="dcterms:W3CDTF">2025-12-06T13:51:56Z</dcterms:modified>
  <cp:category/>
</cp:coreProperties>
</file>